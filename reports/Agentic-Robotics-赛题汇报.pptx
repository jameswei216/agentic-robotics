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Agentic Robotics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7EE787"/>
                </a:solidFill>
                <a:latin typeface="Microsoft YaHei"/>
              </a:rPr>
              <a:t>Agent 驱动的机械臂应用开发与评测流水线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9D1D9"/>
                </a:solidFill>
                <a:latin typeface="Microsoft YaHei"/>
              </a:rPr>
              <a:t>主任务：分拣（10 任务 × 10 初始状态 = 100 episodes，98/100）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C9D1D9"/>
                </a:solidFill>
                <a:latin typeface="Microsoft YaHei"/>
              </a:rPr>
              <a:t>平台：LIBERO / MuJoCo · Franka Panda + 平行二指夹爪 · 纯仿真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8F98"/>
                </a:solidFill>
                <a:latin typeface="Microsoft YaHei"/>
              </a:rPr>
              <a:t>参赛者：魏凤辰 · 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一页看懂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自然语言任务书进去，可执行代码 / 评测数字 / 失败诊断 / 报告出来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651760" cy="1463040"/>
          </a:xfrm>
          <a:prstGeom prst="rect">
            <a:avLst/>
          </a:prstGeom>
          <a:solidFill>
            <a:srgbClr val="FBFCFE"/>
          </a:solidFill>
          <a:ln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4355F"/>
                </a:solidFill>
                <a:latin typeface="Microsoft YaHei"/>
              </a:rPr>
              <a:t>98.0%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B6470"/>
                </a:solidFill>
                <a:latin typeface="Microsoft YaHei"/>
              </a:rPr>
              <a:t>主任务成功率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</a:rPr>
              <a:t>98/100 episodes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371600"/>
            <a:ext cx="2651760" cy="1463040"/>
          </a:xfrm>
          <a:prstGeom prst="rect">
            <a:avLst/>
          </a:prstGeom>
          <a:solidFill>
            <a:srgbClr val="FBFCFE"/>
          </a:solidFill>
          <a:ln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481328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238636"/>
                </a:solidFill>
                <a:latin typeface="Microsoft YaHei"/>
              </a:rPr>
              <a:t>95.5%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121408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B6470"/>
                </a:solidFill>
                <a:latin typeface="Microsoft YaHei"/>
              </a:rPr>
              <a:t>变体任务成功率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4231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</a:rPr>
              <a:t>105/110 episodes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371600"/>
            <a:ext cx="2651760" cy="1463040"/>
          </a:xfrm>
          <a:prstGeom prst="rect">
            <a:avLst/>
          </a:prstGeom>
          <a:solidFill>
            <a:srgbClr val="FBFCFE"/>
          </a:solidFill>
          <a:ln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1481328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238636"/>
                </a:solidFill>
                <a:latin typeface="Microsoft YaHei"/>
              </a:rPr>
              <a:t>90.0%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2121408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B6470"/>
                </a:solidFill>
                <a:latin typeface="Microsoft YaHei"/>
              </a:rPr>
              <a:t>视觉闭环（加分 b）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4231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</a:rPr>
              <a:t>18/20 episodes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4544" y="1371600"/>
            <a:ext cx="2651760" cy="1463040"/>
          </a:xfrm>
          <a:prstGeom prst="rect">
            <a:avLst/>
          </a:prstGeom>
          <a:solidFill>
            <a:srgbClr val="FBFCFE"/>
          </a:solidFill>
          <a:ln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4544" y="1481328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4355F"/>
                </a:solidFill>
                <a:latin typeface="Microsoft YaHei"/>
              </a:rPr>
              <a:t>610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121408"/>
            <a:ext cx="2651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B6470"/>
                </a:solidFill>
                <a:latin typeface="Microsoft YaHei"/>
              </a:rPr>
              <a:t>主任务平均步数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4231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</a:rPr>
              <a:t>6.3 s / episode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14355F"/>
                </a:solidFill>
                <a:latin typeface="Microsoft YaHei"/>
              </a:rPr>
              <a:t>· </a:t>
            </a:r>
            <a:r>
              <a:rPr sz="1500" b="1">
                <a:solidFill>
                  <a:srgbClr val="14355F"/>
                </a:solidFill>
                <a:latin typeface="Microsoft YaHei"/>
              </a:rPr>
              <a:t>六个阶段全自动：</a:t>
            </a:r>
            <a:r>
              <a:rPr sz="1380">
                <a:solidFill>
                  <a:srgbClr val="5B6470"/>
                </a:solidFill>
                <a:latin typeface="Microsoft YaHei"/>
              </a:rPr>
              <a:t>任务书 → LLM 计划（步骤/约束/风险/确认点）→ LLM 生成代码（AST 白名单）→ 逐 episode 子进程执行 → 固定 seed 评测 → 失败诊断 → 自动修复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14355F"/>
                </a:solidFill>
                <a:latin typeface="Microsoft YaHei"/>
              </a:rPr>
              <a:t>· </a:t>
            </a:r>
            <a:r>
              <a:rPr sz="1500" b="1">
                <a:solidFill>
                  <a:srgbClr val="14355F"/>
                </a:solidFill>
                <a:latin typeface="Microsoft YaHei"/>
              </a:rPr>
              <a:t>不让 LLM 裸写控制代码：</a:t>
            </a:r>
            <a:r>
              <a:rPr sz="1380">
                <a:solidFill>
                  <a:srgbClr val="5B6470"/>
                </a:solidFill>
                <a:latin typeface="Microsoft YaHei"/>
              </a:rPr>
              <a:t>它只生成编排与参数，动作走一层已验证原语（抓取点按工件几何算、搬运有回退路线、释放高度按内腔底面算）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14355F"/>
                </a:solidFill>
                <a:latin typeface="Microsoft YaHei"/>
              </a:rPr>
              <a:t>· </a:t>
            </a:r>
            <a:r>
              <a:rPr sz="1500" b="1">
                <a:solidFill>
                  <a:srgbClr val="14355F"/>
                </a:solidFill>
                <a:latin typeface="Microsoft YaHei"/>
              </a:rPr>
              <a:t>人机确认（官方口径）：</a:t>
            </a:r>
            <a:r>
              <a:rPr sz="1380">
                <a:solidFill>
                  <a:srgbClr val="5B6470"/>
                </a:solidFill>
                <a:latin typeface="Microsoft YaHei"/>
              </a:rPr>
              <a:t>赛题要求的是真机运动前确认；本作品做成常设机制：auto（仿真不阻断但写审计）/ manual（真机式阻塞）/ deny（回归测试），四条门控 + 网页面板急停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14355F"/>
                </a:solidFill>
                <a:latin typeface="Microsoft YaHei"/>
              </a:rPr>
              <a:t>· </a:t>
            </a:r>
            <a:r>
              <a:rPr sz="1500" b="1">
                <a:solidFill>
                  <a:srgbClr val="14355F"/>
                </a:solidFill>
                <a:latin typeface="Microsoft YaHei"/>
              </a:rPr>
              <a:t>可复现：</a:t>
            </a:r>
            <a:r>
              <a:rPr sz="1380">
                <a:solidFill>
                  <a:srgbClr val="5B6470"/>
                </a:solidFill>
                <a:latin typeface="Microsoft YaHei"/>
              </a:rPr>
              <a:t>采样器种子化 + 区域半长 = 物体半径 + 抖动 + 可行性检查 110/110；干净环境按 requirements.txt 从零装通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流水线架构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六阶段 + 修复回环；横切关注点：人确认 / 安全 / 感知</a:t>
            </a:r>
          </a:p>
        </p:txBody>
      </p:sp>
      <p:pic>
        <p:nvPicPr>
          <p:cNvPr id="5" name="Picture 4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9301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Agent 只能调用这些原语（API 契约）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生成代码经 AST 白名单校验，越界直接判不通过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6949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2976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原语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失败时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settle(n)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场景静置（平躺螺栓前 30 步会下沉 ~13 mm）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继续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scan(cat)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感知，返回 id / label / pose（vision 模式走 RGB-D）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中止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todo()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本回合必须完成的分拣对（由 bddl goal 导出）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pick(obj)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自上而下抓杆身；未夹到 → RuntimeError（自动重抓 1 次）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重试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place(obj, box)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搬运 → 低空释放 → 撤回 → 返回本件是否进本盒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重做一次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home() / check()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回安全位 / 判定成功（环境目标谓词）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6679" y="141732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4355F"/>
                </a:solidFill>
                <a:latin typeface="Microsoft YaHei"/>
              </a:rPr>
              <a:t>· </a:t>
            </a:r>
            <a:r>
              <a:rPr sz="1300" b="1">
                <a:solidFill>
                  <a:srgbClr val="14355F"/>
                </a:solidFill>
                <a:latin typeface="Microsoft YaHei"/>
              </a:rPr>
              <a:t>为什么不让 LLM 直接写控制：</a:t>
            </a:r>
            <a:r>
              <a:rPr sz="1180">
                <a:solidFill>
                  <a:srgbClr val="5B6470"/>
                </a:solidFill>
                <a:latin typeface="Microsoft YaHei"/>
              </a:rPr>
              <a:t>解析式原语把 90%+ 的成功率固定住，LLM 只负责编排，避免随机性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4355F"/>
                </a:solidFill>
                <a:latin typeface="Microsoft YaHei"/>
              </a:rPr>
              <a:t>· </a:t>
            </a:r>
            <a:r>
              <a:rPr sz="1300" b="1">
                <a:solidFill>
                  <a:srgbClr val="14355F"/>
                </a:solidFill>
                <a:latin typeface="Microsoft YaHei"/>
              </a:rPr>
              <a:t>AST 白名单：</a:t>
            </a:r>
            <a:r>
              <a:rPr sz="1180">
                <a:solidFill>
                  <a:srgbClr val="5B6470"/>
                </a:solidFill>
                <a:latin typeface="Microsoft YaHei"/>
              </a:rPr>
              <a:t>只允许 import 原语 API、字面量、循环/条件；`os`/`subprocess`/文件访问一律拒绝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4355F"/>
                </a:solidFill>
                <a:latin typeface="Microsoft YaHei"/>
              </a:rPr>
              <a:t>· </a:t>
            </a:r>
            <a:r>
              <a:rPr sz="1300" b="1">
                <a:solidFill>
                  <a:srgbClr val="14355F"/>
                </a:solidFill>
                <a:latin typeface="Microsoft YaHei"/>
              </a:rPr>
              <a:t>失败可回退：</a:t>
            </a:r>
            <a:r>
              <a:rPr sz="1180">
                <a:solidFill>
                  <a:srgbClr val="5B6470"/>
                </a:solidFill>
                <a:latin typeface="Microsoft YaHei"/>
              </a:rPr>
              <a:t>生成不通过或 smoke 失败 → 模板路径（--no-llm 可完全离线）</a:t>
            </a:r>
          </a:p>
        </p:txBody>
      </p:sp>
      <p:pic>
        <p:nvPicPr>
          <p:cNvPr id="7" name="Picture 6" descr="failure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794760"/>
            <a:ext cx="4114800" cy="1860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主任务：10 个单件分拣任务 × 10 固定初始状态 = 100 episodes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98/100 = 98.0%，平均 610 步 / 6.3 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t0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t1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t3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t4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t5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t6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t7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t8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t9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8/10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51460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成绩：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9 个任务 10/10；剩余失分 = t6 8/10：螺栓落在 x ≈ +0.174 m，越过 A17 的「舒适带」后搬运烧完预算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口径说明：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10-18 的 100% 是在旧初始状态上测的；10-22 干净环境重装后重采了初始状态，当前状态集上 HEAD 代码的 t6 也是 8/10 —— 98% 是当前基线，不是回退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关键工程修复：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A6 高弧线路线 + 失速早退；A13 区域半长 = 半径 + 抖动；A22 释放高度按内腔宽度分档</a:t>
            </a:r>
          </a:p>
        </p:txBody>
      </p:sp>
      <p:pic>
        <p:nvPicPr>
          <p:cNvPr id="7" name="Picture 6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77440"/>
            <a:ext cx="5669280" cy="2064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变体任务：每类 2 件（11 任务 × 10 seed = 110 episodes）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105/110 = 95.5%（10-18 是 71.8%）；大螺栓类任务 40/40 全清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4653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05256"/>
                <a:gridCol w="905256"/>
                <a:gridCol w="905256"/>
                <a:gridCol w="905256"/>
                <a:gridCol w="905256"/>
                <a:gridCol w="905256"/>
                <a:gridCol w="905256"/>
                <a:gridCol w="905256"/>
                <a:gridCol w="905256"/>
                <a:gridCol w="905256"/>
                <a:gridCol w="905256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t0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t1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t3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t4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t5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t6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t7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t8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t9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t10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10/10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9/10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9/10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8/10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9/10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65176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换任务的改动成本：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只加一份任务书（68 行）——`git diff v0.1-main v0.2-variant -- agent/` 为空（0 行）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71.8% → 95.5% 的真根因（A22）：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第 1 件放完后蓝盒被张开的指头「挂住」拖到第 2 件的位置，第 2 件撞在盒上；日志却写「抓取失败」——接触对过滤漏了 gripper0_* 差点把结论带偏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修法：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释放高度按内腔宽度分档（窄盒盒口 +35 mm + 慢速直上，宽盒维持低释放 A23）；弧线爬升封顶 1.30 m（A24）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剩余 5 例：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3 例初始布局不可行（RandomizationError）+ 2 例远端边缘抓取后的搬运预算</a:t>
            </a:r>
          </a:p>
        </p:txBody>
      </p:sp>
      <p:pic>
        <p:nvPicPr>
          <p:cNvPr id="7" name="Picture 6" descr="failure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97480"/>
            <a:ext cx="5120640" cy="2314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加分 b · 视觉闭环：位姿全部来自 RGB-D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AGENT_PERCEPTION=vision · 18/20 = 90.0%（离线核对 24/24 检出）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4355F"/>
                </a:solidFill>
                <a:latin typeface="Microsoft YaHei"/>
              </a:rPr>
              <a:t>· </a:t>
            </a:r>
            <a:r>
              <a:rPr sz="1300" b="1">
                <a:solidFill>
                  <a:srgbClr val="14355F"/>
                </a:solidFill>
                <a:latin typeface="Microsoft YaHei"/>
              </a:rPr>
              <a:t>流程：</a:t>
            </a:r>
            <a:r>
              <a:rPr sz="1180">
                <a:solidFill>
                  <a:srgbClr val="5B6470"/>
                </a:solidFill>
                <a:latin typeface="Microsoft YaHei"/>
              </a:rPr>
              <a:t>HSV 分割（蓝/红盒 + 钢件，蓝通道 ≥ 红通道排除米色台面）→ 连通域与尺寸门限 → 深度反投影 → PCA 求长轴/长度分类 → 盒口与内腔几何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4355F"/>
                </a:solidFill>
                <a:latin typeface="Microsoft YaHei"/>
              </a:rPr>
              <a:t>· </a:t>
            </a:r>
            <a:r>
              <a:rPr sz="1300" b="1">
                <a:solidFill>
                  <a:srgbClr val="14355F"/>
                </a:solidFill>
                <a:latin typeface="Microsoft YaHei"/>
              </a:rPr>
              <a:t>精度（真值只作测试预言机）：</a:t>
            </a:r>
            <a:r>
              <a:rPr sz="1180">
                <a:solidFill>
                  <a:srgbClr val="5B6470"/>
                </a:solidFill>
                <a:latin typeface="Microsoft YaHei"/>
              </a:rPr>
              <a:t>盒中心 0.4–4.2 mm；螺栓横向 2–7 mm、沿轴 4–8 mm；大小分类 12/12；假目标 0（门限前每场景 4 个）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4355F"/>
                </a:solidFill>
                <a:latin typeface="Microsoft YaHei"/>
              </a:rPr>
              <a:t>· </a:t>
            </a:r>
            <a:r>
              <a:rPr sz="1300" b="1">
                <a:solidFill>
                  <a:srgbClr val="14355F"/>
                </a:solidFill>
                <a:latin typeface="Microsoft YaHei"/>
              </a:rPr>
              <a:t>运行时不用真值：</a:t>
            </a:r>
            <a:r>
              <a:rPr sz="1180">
                <a:solidFill>
                  <a:srgbClr val="5B6470"/>
                </a:solidFill>
                <a:latin typeface="Microsoft YaHei"/>
              </a:rPr>
              <a:t>body_pos / body_rot / site_state 三个查询全部由检测结果提供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4355F"/>
                </a:solidFill>
                <a:latin typeface="Microsoft YaHei"/>
              </a:rPr>
              <a:t>· </a:t>
            </a:r>
            <a:r>
              <a:rPr sz="1300" b="1">
                <a:solidFill>
                  <a:srgbClr val="14355F"/>
                </a:solidFill>
                <a:latin typeface="Microsoft YaHei"/>
              </a:rPr>
              <a:t>三个必须踩的坑：</a:t>
            </a:r>
            <a:r>
              <a:rPr sz="1180">
                <a:solidFill>
                  <a:srgbClr val="5B6470"/>
                </a:solidFill>
                <a:latin typeface="Microsoft YaHei"/>
              </a:rPr>
              <a:t>① 图像缓冲自下而上 vs 内外参自上而下（错配 81 mm，正确 9 mm）② 深度最先返回六角头顶面（比柄高 9–14 mm）③ 腕部像素数 ≠ 在手机检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73736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4355F"/>
                </a:solidFill>
                <a:latin typeface="Microsoft YaHei"/>
              </a:rPr>
              <a:t>表：视觉 vs 特权位姿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470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Microsoft YaHei"/>
              </a:rPr>
              <a:t>特权位姿（主口径）  98/100（98.0%）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38636"/>
                </a:solidFill>
                <a:latin typeface="Microsoft YaHei"/>
              </a:rPr>
              <a:t>视觉闭环（RGB-D）   18/20（90.0%）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470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470"/>
                </a:solidFill>
                <a:latin typeface="Microsoft YaHei"/>
              </a:rPr>
              <a:t>差距来源：xy 偏 5–7 mm 会把「恰好够得着」变成「差一点」；小螺栓柄夹持接触面小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人机确认与安全（官方口径：约束真机；纯仿真 auto 不阻断）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三模式 + 四条门控 + 网页面板 + 急停 + 审计</a:t>
            </a:r>
          </a:p>
        </p:txBody>
      </p:sp>
      <p:pic>
        <p:nvPicPr>
          <p:cNvPr id="5" name="Picture 4" descr="confirm_panel_1_p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62016" cy="3840480"/>
          </a:xfrm>
          <a:prstGeom prst="rect">
            <a:avLst/>
          </a:prstGeom>
        </p:spPr>
      </p:pic>
      <p:pic>
        <p:nvPicPr>
          <p:cNvPr id="6" name="Picture 5" descr="confirm_panel_3_estop_engag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462016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349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icrosoft YaHei"/>
              </a:rPr>
              <a:t>左：待确认（first_motion）——门控动作、details、批准/拒绝、请求号与等待时长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349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icrosoft YaHei"/>
              </a:rPr>
              <a:t>右：急停按下——徽标变急停态；runtime/ESTOP 存在时每个原语每步检查并中止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失败案例分析（docs/failures.md 共 35 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每条都有：现象 → 根因 → 修复 → 影响 → 可复现证据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754880"/>
                <a:gridCol w="55778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根因 / 修法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A6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搬运中途停住、误差恒定 0.26 m 直到超步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直线斜插使 joint4 顶硬限位（−0.070）→ 高弧线路线 + 失速早退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A22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第 2 件总抓不到；日志写「空夹」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真空手：放完第 1 件后料盒被指尖挂走 → 释放高度按内腔宽度分档；变体 71.8% → 95.5%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A11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同一 seed 在不同进程给出不同布局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env.seed() 只种仿真器，布局用全局 np.random → 构造 env 前种子化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A13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料盒常出现在设计位置外 40–90 mm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355F"/>
                          </a:solidFill>
                          <a:latin typeface="Microsoft YaHei"/>
                        </a:rPr>
                        <a:t>有效抖动 = |区域半长 − 半径|，区间反转 → 半长 = 半径 + 抖动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77639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这几个 bug 有一个共同点：都不抛异常，只让成功率随机抖动 —— 最容易被误判成「策略不行」。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所以评测协议里加了两条硬检查：check_feasibility（110/110 可 reset）与 preflight（7 项环境自检），任何一次跑分前先过这两道。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可复现性（官方要求）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固定 seed 协议 + 干净环境 + 一键入口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>
                <a:solidFill>
                  <a:srgbClr val="14355F"/>
                </a:solidFill>
                <a:latin typeface="Microsoft YaHei"/>
              </a:rPr>
              <a:t>· </a:t>
            </a:r>
            <a:r>
              <a:rPr sz="1350" b="1">
                <a:solidFill>
                  <a:srgbClr val="14355F"/>
                </a:solidFill>
                <a:latin typeface="Microsoft YaHei"/>
              </a:rPr>
              <a:t>固定 seed：</a:t>
            </a:r>
            <a:r>
              <a:rPr sz="1230">
                <a:solidFill>
                  <a:srgbClr val="5B6470"/>
                </a:solidFill>
                <a:latin typeface="Microsoft YaHei"/>
              </a:rPr>
              <a:t>seed 1000..1009；采样器也种子化（A11），否则同一 seed 每次布局不同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>
                <a:solidFill>
                  <a:srgbClr val="14355F"/>
                </a:solidFill>
                <a:latin typeface="Microsoft YaHei"/>
              </a:rPr>
              <a:t>· </a:t>
            </a:r>
            <a:r>
              <a:rPr sz="1350" b="1">
                <a:solidFill>
                  <a:srgbClr val="14355F"/>
                </a:solidFill>
                <a:latin typeface="Microsoft YaHei"/>
              </a:rPr>
              <a:t>可行性先验：</a:t>
            </a:r>
            <a:r>
              <a:rPr sz="1230">
                <a:solidFill>
                  <a:srgbClr val="5B6470"/>
                </a:solidFill>
                <a:latin typeface="Microsoft YaHei"/>
              </a:rPr>
              <a:t>check_feasibility.py 要求 110/110 初始状态可 reset，否则先修套件几何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>
                <a:solidFill>
                  <a:srgbClr val="14355F"/>
                </a:solidFill>
                <a:latin typeface="Microsoft YaHei"/>
              </a:rPr>
              <a:t>· </a:t>
            </a:r>
            <a:r>
              <a:rPr sz="1350" b="1">
                <a:solidFill>
                  <a:srgbClr val="14355F"/>
                </a:solidFill>
                <a:latin typeface="Microsoft YaHei"/>
              </a:rPr>
              <a:t>干净环境：</a:t>
            </a:r>
            <a:r>
              <a:rPr sz="1230">
                <a:solidFill>
                  <a:srgbClr val="5B6470"/>
                </a:solidFill>
                <a:latin typeface="Microsoft YaHei"/>
              </a:rPr>
              <a:t>conda create python=3.10 + pip install -r requirements.txt + LIBERO editable → preflight 7/7 → t6 2/2 通过（docs/setup.md）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>
                <a:solidFill>
                  <a:srgbClr val="14355F"/>
                </a:solidFill>
                <a:latin typeface="Microsoft YaHei"/>
              </a:rPr>
              <a:t>· </a:t>
            </a:r>
            <a:r>
              <a:rPr sz="1350" b="1">
                <a:solidFill>
                  <a:srgbClr val="14355F"/>
                </a:solidFill>
                <a:latin typeface="Microsoft YaHei"/>
              </a:rPr>
              <a:t>一键入口：</a:t>
            </a:r>
            <a:r>
              <a:rPr sz="1230">
                <a:solidFill>
                  <a:srgbClr val="5B6470"/>
                </a:solidFill>
                <a:latin typeface="Microsoft YaHei"/>
              </a:rPr>
              <a:t>./run.sh --suite … --taskbook … --tasks … --seeds …；--no-llm 可完全离线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>
                <a:solidFill>
                  <a:srgbClr val="14355F"/>
                </a:solidFill>
                <a:latin typeface="Microsoft YaHei"/>
              </a:rPr>
              <a:t>· </a:t>
            </a:r>
            <a:r>
              <a:rPr sz="1350" b="1">
                <a:solidFill>
                  <a:srgbClr val="14355F"/>
                </a:solidFill>
                <a:latin typeface="Microsoft YaHei"/>
              </a:rPr>
              <a:t>补出的隐式依赖：</a:t>
            </a:r>
            <a:r>
              <a:rPr sz="1230">
                <a:solidFill>
                  <a:srgbClr val="5B6470"/>
                </a:solidFill>
                <a:latin typeface="Microsoft YaHei"/>
              </a:rPr>
              <a:t>pyyaml / termcolor / bddl / easydict / matplotlib / gym==0.22（LIBERO 的 setup.py 里 install_requires 为空）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554480"/>
          <a:ext cx="51206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git 证据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diff v0.1→v0.2 的 agent/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0 行（变体任务不改控制链路）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diff v0.1→v0.2 全部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 文件 / +68 行（任务书）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tags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v0.1-main → v0.6-figures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379476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4355F"/>
                </a:solidFill>
                <a:latin typeface="Microsoft YaHei"/>
              </a:rPr>
              <a:t>运行产物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0"/>
                </a:solidFill>
                <a:latin typeface="Microsoft YaHei"/>
              </a:rPr>
              <a:t>runs/&lt;id&gt;/：plan.json、task.py、metrics.json、diagnosis_r1.json、repair_r1/、report.md、manifest.json；每个 episode 一个目录（trace.jsonl / run.log / result.json）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诚实边界（与数字一起看）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哪些没做、哪些只是「能跑」、哪些结论还不能下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4355F"/>
                </a:solidFill>
                <a:latin typeface="Microsoft YaHei"/>
              </a:rPr>
              <a:t>· </a:t>
            </a:r>
            <a:r>
              <a:rPr sz="1400" b="1">
                <a:solidFill>
                  <a:srgbClr val="14355F"/>
                </a:solidFill>
                <a:latin typeface="Microsoft YaHei"/>
              </a:rPr>
              <a:t>没做：</a:t>
            </a:r>
            <a:r>
              <a:rPr sz="1280">
                <a:solidFill>
                  <a:srgbClr val="5B6470"/>
                </a:solidFill>
                <a:latin typeface="Microsoft YaHei"/>
              </a:rPr>
              <a:t>加分 a 虚实迁移（SO-101 真机）—— 3–5 天且风险最高，本轮不排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4355F"/>
                </a:solidFill>
                <a:latin typeface="Microsoft YaHei"/>
              </a:rPr>
              <a:t>· </a:t>
            </a:r>
            <a:r>
              <a:rPr sz="1400" b="1">
                <a:solidFill>
                  <a:srgbClr val="14355F"/>
                </a:solidFill>
                <a:latin typeface="Microsoft YaHei"/>
              </a:rPr>
              <a:t>变体 95.5%：</a:t>
            </a:r>
            <a:r>
              <a:rPr sz="1280">
                <a:solidFill>
                  <a:srgbClr val="5B6470"/>
                </a:solidFill>
                <a:latin typeface="Microsoft YaHei"/>
              </a:rPr>
              <a:t>剩余 5 例 = 3 例初始布局不可行（环境可行性）+ 2 例远端边缘抓取后的搬运预算；抓取阶段已不再丢分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4355F"/>
                </a:solidFill>
                <a:latin typeface="Microsoft YaHei"/>
              </a:rPr>
              <a:t>· </a:t>
            </a:r>
            <a:r>
              <a:rPr sz="1400" b="1">
                <a:solidFill>
                  <a:srgbClr val="14355F"/>
                </a:solidFill>
                <a:latin typeface="Microsoft YaHei"/>
              </a:rPr>
              <a:t>视觉 90%：</a:t>
            </a:r>
            <a:r>
              <a:rPr sz="1280">
                <a:solidFill>
                  <a:srgbClr val="5B6470"/>
                </a:solidFill>
                <a:latin typeface="Microsoft YaHei"/>
              </a:rPr>
              <a:t>两次失败：小螺栓柄 xy 偏 5–7 mm 空夹；蓝盒内腔底面被近侧盒壁遮挡，释放高度偏高 12 mm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4355F"/>
                </a:solidFill>
                <a:latin typeface="Microsoft YaHei"/>
              </a:rPr>
              <a:t>· </a:t>
            </a:r>
            <a:r>
              <a:rPr sz="1400" b="1">
                <a:solidFill>
                  <a:srgbClr val="14355F"/>
                </a:solidFill>
                <a:latin typeface="Microsoft YaHei"/>
              </a:rPr>
              <a:t>自动修复：</a:t>
            </a:r>
            <a:r>
              <a:rPr sz="1280">
                <a:solidFill>
                  <a:srgbClr val="5B6470"/>
                </a:solidFill>
                <a:latin typeface="Microsoft YaHei"/>
              </a:rPr>
              <a:t>r1 根因判断正确、配对子集 97%→100% 被采纳，但全量复测 98.0%（未泛化）→ 单列为风险，主口径不用它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4355F"/>
                </a:solidFill>
                <a:latin typeface="Microsoft YaHei"/>
              </a:rPr>
              <a:t>· </a:t>
            </a:r>
            <a:r>
              <a:rPr sz="1400" b="1">
                <a:solidFill>
                  <a:srgbClr val="14355F"/>
                </a:solidFill>
                <a:latin typeface="Microsoft YaHei"/>
              </a:rPr>
              <a:t>主口径感知是特权位姿：</a:t>
            </a:r>
            <a:r>
              <a:rPr sz="1280">
                <a:solidFill>
                  <a:srgbClr val="5B6470"/>
                </a:solidFill>
                <a:latin typeface="Microsoft YaHei"/>
              </a:rPr>
              <a:t>视觉闭环单列一条，不混进主口径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4355F"/>
                </a:solidFill>
                <a:latin typeface="Microsoft YaHei"/>
              </a:rPr>
              <a:t>· </a:t>
            </a:r>
            <a:r>
              <a:rPr sz="1400" b="1">
                <a:solidFill>
                  <a:srgbClr val="14355F"/>
                </a:solidFill>
                <a:latin typeface="Microsoft YaHei"/>
              </a:rPr>
              <a:t>不做策略学习：</a:t>
            </a:r>
            <a:r>
              <a:rPr sz="1280">
                <a:solidFill>
                  <a:srgbClr val="5B6470"/>
                </a:solidFill>
                <a:latin typeface="Microsoft YaHei"/>
              </a:rPr>
              <a:t>控制逻辑是解析式原语组合；VLA 微调（14.5% / 10.2%）只作对照基线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355F"/>
                </a:solidFill>
                <a:latin typeface="Microsoft YaHei"/>
              </a:rPr>
              <a:t>交付物与下一步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icrosoft YaHei"/>
              </a:rPr>
              <a:t>提交包：桌面 / 提交包-20261027（PDF + 代码 + 演示视频 + PPT，同一文件夹）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4805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4864" marR="54864" marT="18288" marB="18288">
                    <a:solidFill>
                      <a:srgbClr val="1435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01_技术文档.pdf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15 页总结报告（本 PPT 同源）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02_代码/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git archive HEAD + 关键 runs（metrics/trace/plan）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03_演示视频.mp4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随包提供，4′41″ / 1280×720 / 25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04_汇报PPT.pptx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355F"/>
                          </a:solidFill>
                          <a:latin typeface="Microsoft YaHei"/>
                        </a:rPr>
                        <a:t>本 PPT（12 页）</a:t>
                      </a:r>
                    </a:p>
                  </a:txBody>
                  <a:tcPr marL="54864" marR="54864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已完成：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P1-2 变体套件 71.8% → 95.5%（A22 料盒被拖走；释放高度按内腔宽度分档）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已完成：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P1-3 报告定稿（15 页：失败案例章 / 自动修复 A/B / 评测协议声明 / 工位物料 / 33 条任务清单）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已完成：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交付物统一数字（PDF / PPT / 视频均从 metrics.json 读取）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约束：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材料只出现姓名，单位 / 联系方式一律不出现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14355F"/>
                </a:solidFill>
                <a:latin typeface="Microsoft YaHei"/>
              </a:rPr>
              <a:t>· </a:t>
            </a:r>
            <a:r>
              <a:rPr sz="1250" b="1">
                <a:solidFill>
                  <a:srgbClr val="14355F"/>
                </a:solidFill>
                <a:latin typeface="Microsoft YaHei"/>
              </a:rPr>
              <a:t>提交前需确认：</a:t>
            </a:r>
            <a:r>
              <a:rPr sz="1130">
                <a:solidFill>
                  <a:srgbClr val="5B6470"/>
                </a:solidFill>
                <a:latin typeface="Microsoft YaHei"/>
              </a:rPr>
              <a:t>官方《任务说明书》与最低指标数值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